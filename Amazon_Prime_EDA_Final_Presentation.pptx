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57" r:id="rId3"/>
    <p:sldId id="258" r:id="rId4"/>
    <p:sldId id="259" r:id="rId5"/>
    <p:sldId id="260" r:id="rId6"/>
    <p:sldId id="261" r:id="rId7"/>
    <p:sldId id="267" r:id="rId8"/>
    <p:sldId id="262" r:id="rId9"/>
    <p:sldId id="268" r:id="rId10"/>
    <p:sldId id="263" r:id="rId11"/>
    <p:sldId id="269" r:id="rId12"/>
    <p:sldId id="264" r:id="rId13"/>
    <p:sldId id="270" r:id="rId14"/>
    <p:sldId id="271" r:id="rId15"/>
    <p:sldId id="272" r:id="rId16"/>
    <p:sldId id="275" r:id="rId17"/>
    <p:sldId id="273" r:id="rId18"/>
    <p:sldId id="274" r:id="rId19"/>
    <p:sldId id="265" r:id="rId20"/>
    <p:sldId id="276" r:id="rId21"/>
    <p:sldId id="26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C1D1A-F35E-AF31-2235-419712B678A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BE4CF4B-B270-6EC4-FE78-7C78EE84D0D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E71059-7C27-0F62-0BAE-64F0339AAFB9}"/>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a:extLst>
              <a:ext uri="{FF2B5EF4-FFF2-40B4-BE49-F238E27FC236}">
                <a16:creationId xmlns:a16="http://schemas.microsoft.com/office/drawing/2014/main" id="{39962A0C-C5C1-BC2B-B0FC-E52D939816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D98F5F-14DE-4853-5F8E-D79E9882AEF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0619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908E7-57B6-CFB2-6414-A867C813DA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DD4B90-F768-96DE-FAE8-F5010A80FD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4871C3-B54D-DA12-E650-F537B19DE322}"/>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a:extLst>
              <a:ext uri="{FF2B5EF4-FFF2-40B4-BE49-F238E27FC236}">
                <a16:creationId xmlns:a16="http://schemas.microsoft.com/office/drawing/2014/main" id="{BE27B0C7-1AE1-50D9-6D16-33EFD41678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B64F4D-AC80-524D-29CC-FD902A91122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7358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5E503-65C1-3C34-EF67-E62BED0556BB}"/>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1A5646-0CFE-B445-6F8F-CC52400F51C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23E4E3-D15F-8FC6-F602-6CEF61E2EED1}"/>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a:extLst>
              <a:ext uri="{FF2B5EF4-FFF2-40B4-BE49-F238E27FC236}">
                <a16:creationId xmlns:a16="http://schemas.microsoft.com/office/drawing/2014/main" id="{B594402C-0BE2-890A-2BCE-553C403B7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50C9FE-9FC3-028A-A753-472295F84F7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8509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159E5-C09A-495E-28AC-D3527BA112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6F3E1F-D7CB-5BE9-B4BF-F0D8EA72A35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DE0255-1258-E080-4662-CF2074783133}"/>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BB2437-FC5E-B236-9819-EC6B35D784AB}"/>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a:extLst>
              <a:ext uri="{FF2B5EF4-FFF2-40B4-BE49-F238E27FC236}">
                <a16:creationId xmlns:a16="http://schemas.microsoft.com/office/drawing/2014/main" id="{F233EDE2-A8AB-CA41-879E-9B923DEDC7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91479D-0101-31E2-9630-CC9485B0DA8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234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D9BB6-C583-D91F-D3CC-BCB552F832FF}"/>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985FA5-EDC6-7FE4-1D4E-B5DF9211C51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64216A-9550-36EB-B22E-6DA5F3A7E9A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44432E-FCD9-A8EA-6247-BE5D2B200F6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CC96C34-35F6-EC54-81B7-A58165E55CDB}"/>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EB97E4-8771-A2B1-7E4F-416D80050FC5}"/>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8" name="Footer Placeholder 7">
            <a:extLst>
              <a:ext uri="{FF2B5EF4-FFF2-40B4-BE49-F238E27FC236}">
                <a16:creationId xmlns:a16="http://schemas.microsoft.com/office/drawing/2014/main" id="{C60C40D3-5201-E52B-5E40-CA18F5B5F5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ECBCD3-CFC0-3E61-F5D5-49FA9102EC4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2317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1B1A4-B00A-C39F-2C24-3595CADB2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05E73C-1BDD-2C2E-4905-6C7F241F21D8}"/>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4" name="Footer Placeholder 3">
            <a:extLst>
              <a:ext uri="{FF2B5EF4-FFF2-40B4-BE49-F238E27FC236}">
                <a16:creationId xmlns:a16="http://schemas.microsoft.com/office/drawing/2014/main" id="{B36FF150-2BD7-9390-0202-51A247E420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C35F07-2BE5-792B-1599-111B52185A9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5844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358B45-364B-5ABF-6DF4-2C318357A4B2}"/>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3" name="Footer Placeholder 2">
            <a:extLst>
              <a:ext uri="{FF2B5EF4-FFF2-40B4-BE49-F238E27FC236}">
                <a16:creationId xmlns:a16="http://schemas.microsoft.com/office/drawing/2014/main" id="{36A8578B-120C-CDDD-755B-8683A9E298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92DB86-83F8-491D-8F8B-D3331C36BAC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431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129D-2222-FED7-10A7-15C3D146CC5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E7473D-0D1C-15F1-1931-A6393611901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FE85D7-1B98-587A-AC72-FC72EF5708F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77208DB-F033-FF95-C32A-1F3331E40DB7}"/>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a:extLst>
              <a:ext uri="{FF2B5EF4-FFF2-40B4-BE49-F238E27FC236}">
                <a16:creationId xmlns:a16="http://schemas.microsoft.com/office/drawing/2014/main" id="{3D4CF5AE-8B5A-D43C-3AE6-9E6D1286CC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F42E9F-8377-A5E8-DD5C-770494E13EE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7682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24E49-1486-B84E-7A51-BF2FC517596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0BE936-F53B-2E55-2B8F-08E9F9FC6E2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5D620F6-457B-7162-DE95-BBE82859C47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F718889-16E4-EA91-D689-E24BC64E0E66}"/>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a:extLst>
              <a:ext uri="{FF2B5EF4-FFF2-40B4-BE49-F238E27FC236}">
                <a16:creationId xmlns:a16="http://schemas.microsoft.com/office/drawing/2014/main" id="{485A854C-CC97-320F-D8D7-CB5D0DF3AE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EA7B46-9B17-06A9-91C4-B1850DB9E5B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9336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BB0F7-82AD-7D2D-38CD-2C06A30404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1C7308-E25F-B677-74DF-9DB6C7B013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FB3132-5DB9-DB17-8A5B-EEE9ECC11DDB}"/>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a:extLst>
              <a:ext uri="{FF2B5EF4-FFF2-40B4-BE49-F238E27FC236}">
                <a16:creationId xmlns:a16="http://schemas.microsoft.com/office/drawing/2014/main" id="{F9944E61-0937-4BE2-B9E6-79A6D9D7AD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C69B15-0457-324C-3F44-FAEB0BEBCAB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468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2CA3CA-8952-15E1-BD32-A19ADABF0248}"/>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A7721-43C9-7F99-D75E-060976B48875}"/>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055ECF-F86D-3998-7560-69A48A46D0C2}"/>
              </a:ext>
            </a:extLst>
          </p:cNvPr>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a:extLst>
              <a:ext uri="{FF2B5EF4-FFF2-40B4-BE49-F238E27FC236}">
                <a16:creationId xmlns:a16="http://schemas.microsoft.com/office/drawing/2014/main" id="{59D7AA44-AAB0-2857-87BF-DF8A92CDB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6EFDCB-CA8F-94B9-3254-95AB29256C9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0326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4D9D7D-1B34-AA67-0109-3341D13DB4C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F966D9-5B67-6C9E-5040-A0CE6DC5294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2A090E-8627-D15D-E136-6CB17441295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BCAD085-E8A6-8845-BD4E-CB4CCA059FC4}" type="datetimeFigureOut">
              <a:rPr lang="en-US" smtClean="0"/>
              <a:t>5/30/2026</a:t>
            </a:fld>
            <a:endParaRPr lang="en-US"/>
          </a:p>
        </p:txBody>
      </p:sp>
      <p:sp>
        <p:nvSpPr>
          <p:cNvPr id="5" name="Footer Placeholder 4">
            <a:extLst>
              <a:ext uri="{FF2B5EF4-FFF2-40B4-BE49-F238E27FC236}">
                <a16:creationId xmlns:a16="http://schemas.microsoft.com/office/drawing/2014/main" id="{DFA38690-E0F6-E78E-3293-A6AAFBE40B0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C26103-6775-A874-D380-C6F1334E6D7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7893641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Amazon Prime TV Shows &amp; Movies Analysis</a:t>
            </a:r>
          </a:p>
        </p:txBody>
      </p:sp>
      <p:sp>
        <p:nvSpPr>
          <p:cNvPr id="3" name="Subtitle 2"/>
          <p:cNvSpPr>
            <a:spLocks noGrp="1"/>
          </p:cNvSpPr>
          <p:nvPr>
            <p:ph type="subTitle" idx="1"/>
          </p:nvPr>
        </p:nvSpPr>
        <p:spPr/>
        <p:txBody>
          <a:bodyPr/>
          <a:lstStyle/>
          <a:p>
            <a:r>
              <a:t>Exploratory Data Analysis &amp; Tableau Dashboard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Project Overview</a:t>
            </a:r>
          </a:p>
        </p:txBody>
      </p:sp>
      <p:sp>
        <p:nvSpPr>
          <p:cNvPr id="3" name="TextBox 2"/>
          <p:cNvSpPr txBox="1"/>
          <p:nvPr/>
        </p:nvSpPr>
        <p:spPr>
          <a:xfrm>
            <a:off x="457200" y="1902542"/>
            <a:ext cx="8754842" cy="923330"/>
          </a:xfrm>
          <a:prstGeom prst="rect">
            <a:avLst/>
          </a:prstGeom>
          <a:noFill/>
        </p:spPr>
        <p:txBody>
          <a:bodyPr wrap="square">
            <a:spAutoFit/>
          </a:bodyPr>
          <a:lstStyle/>
          <a:p>
            <a:r>
              <a:rPr dirty="0"/>
              <a:t>This project analyzes Amazon Prime Movies and TV Shows datasets using Python, Pandas,</a:t>
            </a:r>
            <a:endParaRPr lang="en-IN" dirty="0"/>
          </a:p>
          <a:p>
            <a:r>
              <a:rPr dirty="0"/>
              <a:t> Matplotlib, Seaborn, and Tableau. The goal was to discover content trends, audience </a:t>
            </a:r>
            <a:endParaRPr lang="en-IN" dirty="0"/>
          </a:p>
          <a:p>
            <a:r>
              <a:rPr dirty="0"/>
              <a:t>preferences, ratings behavior, regional distribution, and content growth patterns.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Objectives</a:t>
            </a:r>
          </a:p>
        </p:txBody>
      </p:sp>
      <p:sp>
        <p:nvSpPr>
          <p:cNvPr id="3" name="TextBox 2"/>
          <p:cNvSpPr txBox="1"/>
          <p:nvPr/>
        </p:nvSpPr>
        <p:spPr>
          <a:xfrm>
            <a:off x="413938" y="1302774"/>
            <a:ext cx="7772400" cy="3657600"/>
          </a:xfrm>
          <a:prstGeom prst="rect">
            <a:avLst/>
          </a:prstGeom>
          <a:noFill/>
        </p:spPr>
        <p:txBody>
          <a:bodyPr wrap="none">
            <a:spAutoFit/>
          </a:bodyPr>
          <a:lstStyle/>
          <a:p>
            <a:endParaRPr dirty="0"/>
          </a:p>
          <a:p>
            <a:r>
              <a:rPr dirty="0"/>
              <a:t>• Analyze distribution of Movies vs TV Shows</a:t>
            </a:r>
          </a:p>
          <a:p>
            <a:r>
              <a:rPr dirty="0"/>
              <a:t>• Identify popular genres and rating categories</a:t>
            </a:r>
          </a:p>
          <a:p>
            <a:r>
              <a:rPr dirty="0"/>
              <a:t>• Understand global content distribution</a:t>
            </a:r>
          </a:p>
          <a:p>
            <a:r>
              <a:rPr dirty="0"/>
              <a:t>• Study IMDb and TMDB score relationships</a:t>
            </a:r>
          </a:p>
          <a:p>
            <a:r>
              <a:rPr dirty="0"/>
              <a:t>• Track release trends over time</a:t>
            </a:r>
          </a:p>
          <a:p>
            <a:r>
              <a:rPr dirty="0"/>
              <a:t>• Generate actionable business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Tools &amp; Technologies</a:t>
            </a:r>
          </a:p>
        </p:txBody>
      </p:sp>
      <p:sp>
        <p:nvSpPr>
          <p:cNvPr id="3" name="TextBox 2"/>
          <p:cNvSpPr txBox="1"/>
          <p:nvPr/>
        </p:nvSpPr>
        <p:spPr>
          <a:xfrm>
            <a:off x="526923" y="1912374"/>
            <a:ext cx="7772400" cy="2743200"/>
          </a:xfrm>
          <a:prstGeom prst="rect">
            <a:avLst/>
          </a:prstGeom>
          <a:noFill/>
        </p:spPr>
        <p:txBody>
          <a:bodyPr wrap="none">
            <a:spAutoFit/>
          </a:bodyPr>
          <a:lstStyle/>
          <a:p>
            <a:r>
              <a:t>Python, Pandas, NumPy, Matplotlib, Seaborn, Tableau, Google Colab, GitHub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Data Cleaning &amp; Feature Engineering</a:t>
            </a:r>
          </a:p>
        </p:txBody>
      </p:sp>
      <p:sp>
        <p:nvSpPr>
          <p:cNvPr id="3" name="TextBox 2"/>
          <p:cNvSpPr txBox="1"/>
          <p:nvPr/>
        </p:nvSpPr>
        <p:spPr>
          <a:xfrm>
            <a:off x="640080" y="1729494"/>
            <a:ext cx="7955279" cy="3657600"/>
          </a:xfrm>
          <a:prstGeom prst="rect">
            <a:avLst/>
          </a:prstGeom>
          <a:noFill/>
        </p:spPr>
        <p:txBody>
          <a:bodyPr wrap="none">
            <a:spAutoFit/>
          </a:bodyPr>
          <a:lstStyle/>
          <a:p>
            <a:endParaRPr dirty="0"/>
          </a:p>
          <a:p>
            <a:r>
              <a:rPr dirty="0"/>
              <a:t>• Handled missing values using median and custom labels</a:t>
            </a:r>
          </a:p>
          <a:p>
            <a:r>
              <a:rPr dirty="0"/>
              <a:t>• Removed duplicate records</a:t>
            </a:r>
          </a:p>
          <a:p>
            <a:r>
              <a:rPr dirty="0"/>
              <a:t>• Converted list-like columns using </a:t>
            </a:r>
            <a:r>
              <a:rPr dirty="0" err="1"/>
              <a:t>ast.literal_eval</a:t>
            </a:r>
            <a:endParaRPr dirty="0"/>
          </a:p>
          <a:p>
            <a:r>
              <a:rPr dirty="0"/>
              <a:t>• Created new features like </a:t>
            </a:r>
            <a:r>
              <a:rPr dirty="0" err="1"/>
              <a:t>runtime_category</a:t>
            </a:r>
            <a:r>
              <a:rPr dirty="0"/>
              <a:t>, </a:t>
            </a:r>
            <a:r>
              <a:rPr dirty="0" err="1"/>
              <a:t>rating_category</a:t>
            </a:r>
            <a:r>
              <a:rPr dirty="0"/>
              <a:t>, </a:t>
            </a:r>
            <a:r>
              <a:rPr dirty="0" err="1"/>
              <a:t>content_age</a:t>
            </a:r>
            <a:endParaRPr dirty="0"/>
          </a:p>
          <a:p>
            <a:r>
              <a:rPr dirty="0"/>
              <a:t>• Merged titles and credits datasets</a:t>
            </a:r>
          </a:p>
          <a:p>
            <a:r>
              <a:rPr dirty="0"/>
              <a:t>• Created Tableau-ready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504903" cy="1499616"/>
          </a:xfrm>
        </p:spPr>
        <p:txBody>
          <a:bodyPr>
            <a:normAutofit/>
          </a:bodyPr>
          <a:lstStyle/>
          <a:p>
            <a:pPr algn="ctr"/>
            <a:r>
              <a:rPr sz="4000" dirty="0"/>
              <a:t>Correlation Heatmap</a:t>
            </a:r>
          </a:p>
        </p:txBody>
      </p:sp>
      <p:pic>
        <p:nvPicPr>
          <p:cNvPr id="3" name="Picture 2" descr="corelation heat map of numeric values(1).jpg"/>
          <p:cNvPicPr>
            <a:picLocks noChangeAspect="1"/>
          </p:cNvPicPr>
          <p:nvPr/>
        </p:nvPicPr>
        <p:blipFill>
          <a:blip r:embed="rId2"/>
          <a:stretch>
            <a:fillRect/>
          </a:stretch>
        </p:blipFill>
        <p:spPr>
          <a:xfrm>
            <a:off x="768096" y="1352919"/>
            <a:ext cx="7772400" cy="4876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7EA11-7327-EA71-3276-BBA042A61889}"/>
              </a:ext>
            </a:extLst>
          </p:cNvPr>
          <p:cNvSpPr>
            <a:spLocks noGrp="1"/>
          </p:cNvSpPr>
          <p:nvPr>
            <p:ph type="title"/>
          </p:nvPr>
        </p:nvSpPr>
        <p:spPr>
          <a:xfrm>
            <a:off x="457200" y="274638"/>
            <a:ext cx="8229600" cy="836407"/>
          </a:xfrm>
        </p:spPr>
        <p:txBody>
          <a:bodyPr>
            <a:noAutofit/>
          </a:bodyPr>
          <a:lstStyle/>
          <a:p>
            <a:pPr algn="ctr"/>
            <a:r>
              <a:rPr lang="en-US" sz="4000" dirty="0"/>
              <a:t>Correlation Heatmap of Numeric Variables</a:t>
            </a:r>
            <a:endParaRPr lang="en-IN" sz="4000" dirty="0"/>
          </a:p>
        </p:txBody>
      </p:sp>
      <p:sp>
        <p:nvSpPr>
          <p:cNvPr id="3" name="Content Placeholder 2">
            <a:extLst>
              <a:ext uri="{FF2B5EF4-FFF2-40B4-BE49-F238E27FC236}">
                <a16:creationId xmlns:a16="http://schemas.microsoft.com/office/drawing/2014/main" id="{3FCCCE66-37C1-B6ED-FE1D-8126CB319F52}"/>
              </a:ext>
            </a:extLst>
          </p:cNvPr>
          <p:cNvSpPr>
            <a:spLocks noGrp="1"/>
          </p:cNvSpPr>
          <p:nvPr>
            <p:ph idx="1"/>
          </p:nvPr>
        </p:nvSpPr>
        <p:spPr>
          <a:xfrm>
            <a:off x="457200" y="1179872"/>
            <a:ext cx="8229600" cy="5604386"/>
          </a:xfrm>
        </p:spPr>
        <p:txBody>
          <a:bodyPr>
            <a:noAutofit/>
          </a:bodyPr>
          <a:lstStyle/>
          <a:p>
            <a:r>
              <a:rPr lang="en-US" sz="1200" b="1" dirty="0"/>
              <a:t>Why This Chart?</a:t>
            </a:r>
          </a:p>
          <a:p>
            <a:r>
              <a:rPr lang="en-US" sz="1200" dirty="0"/>
              <a:t>A correlation heatmap was selected to understand the relationships between important numerical variables such as IMDb Score, TMDB Score, Runtime, Votes, Popularity, and Release Year.</a:t>
            </a:r>
          </a:p>
          <a:p>
            <a:r>
              <a:rPr lang="en-US" sz="1200" dirty="0"/>
              <a:t>This chart helps identify whether certain variables move together positively or negatively.</a:t>
            </a:r>
          </a:p>
          <a:p>
            <a:endParaRPr lang="en-US" sz="1200" dirty="0"/>
          </a:p>
          <a:p>
            <a:r>
              <a:rPr lang="en-US" sz="1200" b="1" dirty="0"/>
              <a:t>Key Insights Found</a:t>
            </a:r>
          </a:p>
          <a:p>
            <a:r>
              <a:rPr lang="en-US" sz="1200" dirty="0"/>
              <a:t>IMDb Score and TMDB Score show a </a:t>
            </a:r>
            <a:r>
              <a:rPr lang="en-US" sz="1200" b="1" dirty="0"/>
              <a:t>moderate positive correlation (0.49)</a:t>
            </a:r>
            <a:r>
              <a:rPr lang="en-US" sz="1200" dirty="0"/>
              <a:t>. </a:t>
            </a:r>
          </a:p>
          <a:p>
            <a:pPr lvl="1"/>
            <a:r>
              <a:rPr lang="en-US" sz="1200" dirty="0"/>
              <a:t>This indicates both platforms generally agree on content quality. </a:t>
            </a:r>
          </a:p>
          <a:p>
            <a:r>
              <a:rPr lang="en-US" sz="1200" dirty="0"/>
              <a:t>TMDB Popularity and IMDb Votes show a </a:t>
            </a:r>
            <a:r>
              <a:rPr lang="en-US" sz="1200" b="1" dirty="0"/>
              <a:t>positive relationship</a:t>
            </a:r>
            <a:r>
              <a:rPr lang="en-US" sz="1200" dirty="0"/>
              <a:t>. </a:t>
            </a:r>
          </a:p>
          <a:p>
            <a:pPr lvl="1"/>
            <a:r>
              <a:rPr lang="en-US" sz="1200" dirty="0"/>
              <a:t>More popular content receives higher audience engagement. </a:t>
            </a:r>
          </a:p>
          <a:p>
            <a:r>
              <a:rPr lang="en-US" sz="1200" dirty="0"/>
              <a:t>Runtime has very weak correlation with ratings. </a:t>
            </a:r>
          </a:p>
          <a:p>
            <a:pPr lvl="1"/>
            <a:r>
              <a:rPr lang="en-US" sz="1200" dirty="0"/>
              <a:t>Longer movies do not necessarily perform better. </a:t>
            </a:r>
          </a:p>
          <a:p>
            <a:r>
              <a:rPr lang="en-US" sz="1200" dirty="0"/>
              <a:t>Release Year and Number of Genres show slight negative correlation. </a:t>
            </a:r>
          </a:p>
          <a:p>
            <a:pPr lvl="1"/>
            <a:r>
              <a:rPr lang="en-US" sz="1200" dirty="0"/>
              <a:t>Recent content tends to focus on fewer genres. </a:t>
            </a:r>
          </a:p>
          <a:p>
            <a:endParaRPr lang="en-US" sz="1200" dirty="0"/>
          </a:p>
          <a:p>
            <a:r>
              <a:rPr lang="en-US" sz="1200" b="1" dirty="0"/>
              <a:t>Business Impact</a:t>
            </a:r>
          </a:p>
          <a:p>
            <a:r>
              <a:rPr lang="en-US" sz="1200" dirty="0"/>
              <a:t>Helps Amazon Prime understand what factors influence audience engagement. </a:t>
            </a:r>
          </a:p>
          <a:p>
            <a:r>
              <a:rPr lang="en-US" sz="1200" dirty="0"/>
              <a:t>Confirms rating consistency across platforms, improving recommendation reliability. </a:t>
            </a:r>
          </a:p>
          <a:p>
            <a:r>
              <a:rPr lang="en-US" sz="1200" dirty="0"/>
              <a:t>Supports data-driven content acquisition decisions. </a:t>
            </a:r>
          </a:p>
          <a:p>
            <a:endParaRPr lang="en-IN" sz="1200" dirty="0"/>
          </a:p>
          <a:p>
            <a:r>
              <a:rPr lang="en-US" sz="1200" dirty="0"/>
              <a:t>The heatmap reveals that audience ratings and popularity metrics are moderately connected, while runtime has minimal impact on content success. This insight can help streaming platforms focus more on quality storytelling and audience engagement rather than content duration.</a:t>
            </a:r>
            <a:endParaRPr lang="en-IN" sz="1200" dirty="0"/>
          </a:p>
        </p:txBody>
      </p:sp>
    </p:spTree>
    <p:extLst>
      <p:ext uri="{BB962C8B-B14F-4D97-AF65-F5344CB8AC3E}">
        <p14:creationId xmlns:p14="http://schemas.microsoft.com/office/powerpoint/2010/main" val="46546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Rating Category by Genre</a:t>
            </a:r>
          </a:p>
        </p:txBody>
      </p:sp>
      <p:pic>
        <p:nvPicPr>
          <p:cNvPr id="3" name="Picture 2" descr="Rating category by genre(1).jpg"/>
          <p:cNvPicPr>
            <a:picLocks noChangeAspect="1"/>
          </p:cNvPicPr>
          <p:nvPr/>
        </p:nvPicPr>
        <p:blipFill>
          <a:blip r:embed="rId2"/>
          <a:stretch>
            <a:fillRect/>
          </a:stretch>
        </p:blipFill>
        <p:spPr>
          <a:xfrm>
            <a:off x="560439" y="1543665"/>
            <a:ext cx="8126361" cy="44441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CD5C7-EBD4-D524-4AFC-02D1D6134F5B}"/>
              </a:ext>
            </a:extLst>
          </p:cNvPr>
          <p:cNvSpPr>
            <a:spLocks noGrp="1"/>
          </p:cNvSpPr>
          <p:nvPr>
            <p:ph type="title"/>
          </p:nvPr>
        </p:nvSpPr>
        <p:spPr/>
        <p:txBody>
          <a:bodyPr>
            <a:normAutofit/>
          </a:bodyPr>
          <a:lstStyle/>
          <a:p>
            <a:pPr algn="ctr"/>
            <a:r>
              <a:rPr lang="en-US" sz="4000" dirty="0"/>
              <a:t>Rating Category by Genre (Pie Chart)</a:t>
            </a:r>
            <a:endParaRPr lang="en-IN" sz="4000" dirty="0"/>
          </a:p>
        </p:txBody>
      </p:sp>
      <p:sp>
        <p:nvSpPr>
          <p:cNvPr id="3" name="Content Placeholder 2">
            <a:extLst>
              <a:ext uri="{FF2B5EF4-FFF2-40B4-BE49-F238E27FC236}">
                <a16:creationId xmlns:a16="http://schemas.microsoft.com/office/drawing/2014/main" id="{34237026-860A-93DC-8419-27ECE4FF26EE}"/>
              </a:ext>
            </a:extLst>
          </p:cNvPr>
          <p:cNvSpPr>
            <a:spLocks noGrp="1"/>
          </p:cNvSpPr>
          <p:nvPr>
            <p:ph idx="1"/>
          </p:nvPr>
        </p:nvSpPr>
        <p:spPr>
          <a:xfrm>
            <a:off x="457200" y="1600200"/>
            <a:ext cx="8229600" cy="5115232"/>
          </a:xfrm>
        </p:spPr>
        <p:txBody>
          <a:bodyPr>
            <a:normAutofit fontScale="77500" lnSpcReduction="20000"/>
          </a:bodyPr>
          <a:lstStyle/>
          <a:p>
            <a:r>
              <a:rPr lang="en-US" sz="1600" b="1" dirty="0"/>
              <a:t>Why This Chart?</a:t>
            </a:r>
          </a:p>
          <a:p>
            <a:r>
              <a:rPr lang="en-US" sz="1600" dirty="0"/>
              <a:t>A pie chart was used to visualize the proportion of content distributed across different rating categories such as:</a:t>
            </a:r>
          </a:p>
          <a:p>
            <a:r>
              <a:rPr lang="en-US" sz="1600" dirty="0"/>
              <a:t>Bad </a:t>
            </a:r>
          </a:p>
          <a:p>
            <a:r>
              <a:rPr lang="en-US" sz="1600" dirty="0"/>
              <a:t>Good </a:t>
            </a:r>
          </a:p>
          <a:p>
            <a:r>
              <a:rPr lang="en-US" sz="1600" dirty="0"/>
              <a:t>Very Good </a:t>
            </a:r>
          </a:p>
          <a:p>
            <a:r>
              <a:rPr lang="en-US" sz="1600" dirty="0"/>
              <a:t>Excellent </a:t>
            </a:r>
          </a:p>
          <a:p>
            <a:r>
              <a:rPr lang="en-US" sz="1600" dirty="0"/>
              <a:t>This makes it easy to compare overall audience satisfaction levels.</a:t>
            </a:r>
          </a:p>
          <a:p>
            <a:br>
              <a:rPr lang="en-US" sz="1600" dirty="0"/>
            </a:br>
            <a:endParaRPr lang="en-US" sz="1600" dirty="0"/>
          </a:p>
          <a:p>
            <a:r>
              <a:rPr lang="en-US" sz="1600" b="1" dirty="0"/>
              <a:t>Key Insights Found</a:t>
            </a:r>
          </a:p>
          <a:p>
            <a:r>
              <a:rPr lang="en-US" sz="1600" dirty="0"/>
              <a:t>Most Amazon Prime content falls under the </a:t>
            </a:r>
            <a:r>
              <a:rPr lang="en-US" sz="1600" b="1" dirty="0"/>
              <a:t>“Good” rating category</a:t>
            </a:r>
            <a:r>
              <a:rPr lang="en-US" sz="1600" dirty="0"/>
              <a:t>. </a:t>
            </a:r>
          </a:p>
          <a:p>
            <a:r>
              <a:rPr lang="en-US" sz="1600" dirty="0"/>
              <a:t>Very few titles fall under the “Excellent” category. </a:t>
            </a:r>
          </a:p>
          <a:p>
            <a:r>
              <a:rPr lang="en-US" sz="1600" dirty="0"/>
              <a:t>Shows and Movies both contribute heavily to mid-range ratings. </a:t>
            </a:r>
          </a:p>
          <a:p>
            <a:r>
              <a:rPr lang="en-US" sz="1600" dirty="0"/>
              <a:t>Poorly rated content still forms a significant portion of the library. </a:t>
            </a:r>
          </a:p>
          <a:p>
            <a:endParaRPr lang="en-US" sz="1600" dirty="0"/>
          </a:p>
          <a:p>
            <a:r>
              <a:rPr lang="en-US" sz="1600" b="1" dirty="0"/>
              <a:t>Business Impact</a:t>
            </a:r>
          </a:p>
          <a:p>
            <a:r>
              <a:rPr lang="en-US" sz="1600" dirty="0"/>
              <a:t>Helps identify overall platform content quality. </a:t>
            </a:r>
          </a:p>
          <a:p>
            <a:r>
              <a:rPr lang="en-US" sz="1600" dirty="0"/>
              <a:t>Shows that Amazon Prime has strong mid-performing content but fewer exceptional titles.</a:t>
            </a:r>
          </a:p>
          <a:p>
            <a:endParaRPr lang="en-US" sz="1600" dirty="0"/>
          </a:p>
          <a:p>
            <a:r>
              <a:rPr lang="en-US" sz="1600" dirty="0"/>
              <a:t>The analysis shows Amazon Prime maintains a strong volume of moderately successful content, but there is room to increase critically acclaimed titles. Strategic investments in premium productions may improve customer retention and brand perception.</a:t>
            </a:r>
          </a:p>
          <a:p>
            <a:endParaRPr lang="en-IN" dirty="0"/>
          </a:p>
        </p:txBody>
      </p:sp>
    </p:spTree>
    <p:extLst>
      <p:ext uri="{BB962C8B-B14F-4D97-AF65-F5344CB8AC3E}">
        <p14:creationId xmlns:p14="http://schemas.microsoft.com/office/powerpoint/2010/main" val="1234345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Movies and Shows by Country</a:t>
            </a:r>
          </a:p>
        </p:txBody>
      </p:sp>
      <p:pic>
        <p:nvPicPr>
          <p:cNvPr id="3" name="Picture 2" descr="movies and shows by country.jpg"/>
          <p:cNvPicPr>
            <a:picLocks noChangeAspect="1"/>
          </p:cNvPicPr>
          <p:nvPr/>
        </p:nvPicPr>
        <p:blipFill>
          <a:blip r:embed="rId2"/>
          <a:stretch>
            <a:fillRect/>
          </a:stretch>
        </p:blipFill>
        <p:spPr>
          <a:xfrm>
            <a:off x="457201" y="1563329"/>
            <a:ext cx="8229092" cy="44906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622CF-ED0F-94A2-6118-C8A4AA7E4D3F}"/>
              </a:ext>
            </a:extLst>
          </p:cNvPr>
          <p:cNvSpPr>
            <a:spLocks noGrp="1"/>
          </p:cNvSpPr>
          <p:nvPr>
            <p:ph type="title"/>
          </p:nvPr>
        </p:nvSpPr>
        <p:spPr/>
        <p:txBody>
          <a:bodyPr>
            <a:normAutofit/>
          </a:bodyPr>
          <a:lstStyle/>
          <a:p>
            <a:pPr algn="ctr"/>
            <a:r>
              <a:rPr lang="en-US" sz="4000" dirty="0"/>
              <a:t>Movies and Shows by Country (Map Visualization)</a:t>
            </a:r>
            <a:endParaRPr lang="en-IN" sz="4000" dirty="0"/>
          </a:p>
        </p:txBody>
      </p:sp>
      <p:sp>
        <p:nvSpPr>
          <p:cNvPr id="3" name="Content Placeholder 2">
            <a:extLst>
              <a:ext uri="{FF2B5EF4-FFF2-40B4-BE49-F238E27FC236}">
                <a16:creationId xmlns:a16="http://schemas.microsoft.com/office/drawing/2014/main" id="{2B9812CC-EDBF-82EA-B94D-91BA6E3C410E}"/>
              </a:ext>
            </a:extLst>
          </p:cNvPr>
          <p:cNvSpPr>
            <a:spLocks noGrp="1"/>
          </p:cNvSpPr>
          <p:nvPr>
            <p:ph idx="1"/>
          </p:nvPr>
        </p:nvSpPr>
        <p:spPr/>
        <p:txBody>
          <a:bodyPr>
            <a:normAutofit fontScale="25000" lnSpcReduction="20000"/>
          </a:bodyPr>
          <a:lstStyle/>
          <a:p>
            <a:r>
              <a:rPr lang="en-US" sz="5600" b="1" dirty="0"/>
              <a:t>Why This Chart?</a:t>
            </a:r>
          </a:p>
          <a:p>
            <a:r>
              <a:rPr lang="en-US" sz="5600" dirty="0"/>
              <a:t>A geographic map visualization was chosen to analyze the global distribution of Amazon Prime content production.</a:t>
            </a:r>
          </a:p>
          <a:p>
            <a:r>
              <a:rPr lang="en-US" sz="5600" dirty="0"/>
              <a:t>Maps are highly effective for identifying regional dominance and content concentration.</a:t>
            </a:r>
          </a:p>
          <a:p>
            <a:br>
              <a:rPr lang="en-US" sz="5600" dirty="0"/>
            </a:br>
            <a:endParaRPr lang="en-US" sz="5600" dirty="0"/>
          </a:p>
          <a:p>
            <a:r>
              <a:rPr lang="en-US" sz="5600" b="1" dirty="0"/>
              <a:t>Key Insights Found</a:t>
            </a:r>
          </a:p>
          <a:p>
            <a:r>
              <a:rPr lang="en-US" sz="5600" dirty="0"/>
              <a:t>North America and parts of Asia dominate content production. </a:t>
            </a:r>
          </a:p>
          <a:p>
            <a:r>
              <a:rPr lang="en-US" sz="5600" dirty="0"/>
              <a:t>Countries like the US and India contribute heavily to the platform library. </a:t>
            </a:r>
          </a:p>
          <a:p>
            <a:r>
              <a:rPr lang="en-US" sz="5600" dirty="0"/>
              <a:t>Several regions show low content representation. </a:t>
            </a:r>
          </a:p>
          <a:p>
            <a:r>
              <a:rPr lang="en-US" sz="5600" dirty="0"/>
              <a:t>Amazon Prime’s catalog is concentrated in selected entertainment markets. </a:t>
            </a:r>
          </a:p>
          <a:p>
            <a:br>
              <a:rPr lang="en-US" sz="5600" dirty="0"/>
            </a:br>
            <a:endParaRPr lang="en-US" sz="5600" dirty="0"/>
          </a:p>
          <a:p>
            <a:r>
              <a:rPr lang="en-US" sz="5600" b="1" dirty="0"/>
              <a:t>Business Impact</a:t>
            </a:r>
          </a:p>
          <a:p>
            <a:r>
              <a:rPr lang="en-US" sz="5600" dirty="0"/>
              <a:t>Identifies underserved regions for future market expansion. </a:t>
            </a:r>
          </a:p>
          <a:p>
            <a:r>
              <a:rPr lang="en-US" sz="5600" dirty="0"/>
              <a:t>Helps Amazon Prime localize content strategies. </a:t>
            </a:r>
          </a:p>
          <a:p>
            <a:r>
              <a:rPr lang="en-US" sz="5600" dirty="0"/>
              <a:t>Supports international audience targeting. </a:t>
            </a:r>
          </a:p>
          <a:p>
            <a:r>
              <a:rPr lang="en-US" sz="5600" dirty="0"/>
              <a:t>Useful for planning regional investments and partnerships.</a:t>
            </a:r>
          </a:p>
          <a:p>
            <a:endParaRPr lang="en-IN" sz="5600" dirty="0"/>
          </a:p>
          <a:p>
            <a:r>
              <a:rPr lang="en-US" sz="5600" dirty="0"/>
              <a:t>The geographic analysis highlights strong content concentration in major entertainment-producing countries. The findings suggest opportunities for Amazon Prime to expand localized content production in emerging global markets.</a:t>
            </a:r>
          </a:p>
          <a:p>
            <a:endParaRPr lang="en-IN" dirty="0"/>
          </a:p>
        </p:txBody>
      </p:sp>
    </p:spTree>
    <p:extLst>
      <p:ext uri="{BB962C8B-B14F-4D97-AF65-F5344CB8AC3E}">
        <p14:creationId xmlns:p14="http://schemas.microsoft.com/office/powerpoint/2010/main" val="4054284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Recent vs Old Content</a:t>
            </a:r>
          </a:p>
        </p:txBody>
      </p:sp>
      <p:pic>
        <p:nvPicPr>
          <p:cNvPr id="3" name="Picture 2" descr="recent vs old content.jpg"/>
          <p:cNvPicPr>
            <a:picLocks noChangeAspect="1"/>
          </p:cNvPicPr>
          <p:nvPr/>
        </p:nvPicPr>
        <p:blipFill>
          <a:blip r:embed="rId2"/>
          <a:stretch>
            <a:fillRect/>
          </a:stretch>
        </p:blipFill>
        <p:spPr>
          <a:xfrm>
            <a:off x="377807" y="1600992"/>
            <a:ext cx="8308993" cy="42440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286A2-7A5F-A1A7-8F44-F843F90456CE}"/>
              </a:ext>
            </a:extLst>
          </p:cNvPr>
          <p:cNvSpPr>
            <a:spLocks noGrp="1"/>
          </p:cNvSpPr>
          <p:nvPr>
            <p:ph type="title"/>
          </p:nvPr>
        </p:nvSpPr>
        <p:spPr>
          <a:xfrm>
            <a:off x="457200" y="274638"/>
            <a:ext cx="8229600" cy="826575"/>
          </a:xfrm>
        </p:spPr>
        <p:txBody>
          <a:bodyPr>
            <a:normAutofit/>
          </a:bodyPr>
          <a:lstStyle/>
          <a:p>
            <a:pPr algn="ctr"/>
            <a:r>
              <a:rPr lang="en-US" sz="4000" dirty="0"/>
              <a:t>Recent vs Old Content (Bar Chart)</a:t>
            </a:r>
            <a:endParaRPr lang="en-IN" sz="4000" dirty="0"/>
          </a:p>
        </p:txBody>
      </p:sp>
      <p:sp>
        <p:nvSpPr>
          <p:cNvPr id="3" name="Content Placeholder 2">
            <a:extLst>
              <a:ext uri="{FF2B5EF4-FFF2-40B4-BE49-F238E27FC236}">
                <a16:creationId xmlns:a16="http://schemas.microsoft.com/office/drawing/2014/main" id="{377E0290-1613-87E8-4A44-DECD96438190}"/>
              </a:ext>
            </a:extLst>
          </p:cNvPr>
          <p:cNvSpPr>
            <a:spLocks noGrp="1"/>
          </p:cNvSpPr>
          <p:nvPr>
            <p:ph idx="1"/>
          </p:nvPr>
        </p:nvSpPr>
        <p:spPr>
          <a:xfrm>
            <a:off x="457200" y="1307690"/>
            <a:ext cx="8229600" cy="5275672"/>
          </a:xfrm>
        </p:spPr>
        <p:txBody>
          <a:bodyPr>
            <a:normAutofit fontScale="92500" lnSpcReduction="10000"/>
          </a:bodyPr>
          <a:lstStyle/>
          <a:p>
            <a:r>
              <a:rPr lang="en-US" sz="1400" b="1" dirty="0"/>
              <a:t>Why This Chart?</a:t>
            </a:r>
          </a:p>
          <a:p>
            <a:r>
              <a:rPr lang="en-US" sz="1400" dirty="0"/>
              <a:t>A bar chart was used because it clearly compares two groups:</a:t>
            </a:r>
          </a:p>
          <a:p>
            <a:r>
              <a:rPr lang="en-US" sz="1400" dirty="0"/>
              <a:t>Recent Content </a:t>
            </a:r>
          </a:p>
          <a:p>
            <a:r>
              <a:rPr lang="en-US" sz="1400" dirty="0"/>
              <a:t>Old Content </a:t>
            </a:r>
          </a:p>
          <a:p>
            <a:r>
              <a:rPr lang="en-US" sz="1400" dirty="0"/>
              <a:t>This allows quick comparison of platform content growth patterns.</a:t>
            </a:r>
          </a:p>
          <a:p>
            <a:br>
              <a:rPr lang="en-US" sz="1400" dirty="0"/>
            </a:br>
            <a:endParaRPr lang="en-US" sz="1400" dirty="0"/>
          </a:p>
          <a:p>
            <a:r>
              <a:rPr lang="en-US" sz="1400" b="1" dirty="0"/>
              <a:t>Key Insights Found</a:t>
            </a:r>
          </a:p>
          <a:p>
            <a:r>
              <a:rPr lang="en-US" sz="1400" dirty="0"/>
              <a:t>Older content dominates the Amazon Prime library. </a:t>
            </a:r>
          </a:p>
          <a:p>
            <a:r>
              <a:rPr lang="en-US" sz="1400" dirty="0"/>
              <a:t>Recent content additions are significantly lower. </a:t>
            </a:r>
          </a:p>
          <a:p>
            <a:r>
              <a:rPr lang="en-US" sz="1400" dirty="0"/>
              <a:t>The platform relies heavily on legacy content. </a:t>
            </a:r>
          </a:p>
          <a:p>
            <a:r>
              <a:rPr lang="en-US" sz="1400" dirty="0"/>
              <a:t>Content acquisition and production have increased gradually in recent years. </a:t>
            </a:r>
          </a:p>
          <a:p>
            <a:endParaRPr lang="en-US" sz="1400" dirty="0"/>
          </a:p>
          <a:p>
            <a:r>
              <a:rPr lang="en-US" sz="1400" b="1" dirty="0"/>
              <a:t>Business Impact</a:t>
            </a:r>
          </a:p>
          <a:p>
            <a:r>
              <a:rPr lang="en-US" sz="1400" dirty="0"/>
              <a:t>Shows dependency on older catalog content. </a:t>
            </a:r>
          </a:p>
          <a:p>
            <a:r>
              <a:rPr lang="en-US" sz="1400" dirty="0"/>
              <a:t>Indicates need for continuous fresh content releases. </a:t>
            </a:r>
          </a:p>
          <a:p>
            <a:r>
              <a:rPr lang="en-US" sz="1400" dirty="0"/>
              <a:t>Helps measure content freshness and competitiveness. </a:t>
            </a:r>
          </a:p>
          <a:p>
            <a:endParaRPr lang="en-US" sz="1400" dirty="0"/>
          </a:p>
          <a:p>
            <a:r>
              <a:rPr lang="en-US" sz="1400" dirty="0"/>
              <a:t>The analysis reveals that Amazon Prime’s catalog is still heavily dominated by older titles. While recent content is increasing, consistent investment in fresh releases will be important for long-term audience engagement and subscriber growth.</a:t>
            </a:r>
            <a:endParaRPr lang="en-IN" sz="1400" dirty="0"/>
          </a:p>
        </p:txBody>
      </p:sp>
    </p:spTree>
    <p:extLst>
      <p:ext uri="{BB962C8B-B14F-4D97-AF65-F5344CB8AC3E}">
        <p14:creationId xmlns:p14="http://schemas.microsoft.com/office/powerpoint/2010/main" val="1381100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B126A6-A51A-88FF-60FD-EAEC4AC80012}"/>
              </a:ext>
            </a:extLst>
          </p:cNvPr>
          <p:cNvPicPr>
            <a:picLocks noChangeAspect="1"/>
          </p:cNvPicPr>
          <p:nvPr/>
        </p:nvPicPr>
        <p:blipFill>
          <a:blip r:embed="rId2"/>
          <a:stretch>
            <a:fillRect/>
          </a:stretch>
        </p:blipFill>
        <p:spPr>
          <a:xfrm>
            <a:off x="423407" y="1789471"/>
            <a:ext cx="8415794" cy="4434675"/>
          </a:xfrm>
          <a:prstGeom prst="rect">
            <a:avLst/>
          </a:prstGeom>
        </p:spPr>
      </p:pic>
      <p:sp>
        <p:nvSpPr>
          <p:cNvPr id="6" name="TextBox 5">
            <a:extLst>
              <a:ext uri="{FF2B5EF4-FFF2-40B4-BE49-F238E27FC236}">
                <a16:creationId xmlns:a16="http://schemas.microsoft.com/office/drawing/2014/main" id="{E6B41A2B-CB3A-0575-A17E-FCAF20A93C1F}"/>
              </a:ext>
            </a:extLst>
          </p:cNvPr>
          <p:cNvSpPr txBox="1"/>
          <p:nvPr/>
        </p:nvSpPr>
        <p:spPr>
          <a:xfrm>
            <a:off x="766917" y="137652"/>
            <a:ext cx="8072284" cy="1323439"/>
          </a:xfrm>
          <a:prstGeom prst="rect">
            <a:avLst/>
          </a:prstGeom>
          <a:noFill/>
        </p:spPr>
        <p:txBody>
          <a:bodyPr wrap="square" rtlCol="0">
            <a:spAutoFit/>
          </a:bodyPr>
          <a:lstStyle/>
          <a:p>
            <a:r>
              <a:rPr lang="en-US" sz="4000" dirty="0">
                <a:latin typeface="+mj-lt"/>
              </a:rPr>
              <a:t>Release Trend Over Time (Dual Axis Line Chart)</a:t>
            </a:r>
            <a:endParaRPr lang="en-IN" sz="4000" dirty="0">
              <a:latin typeface="+mj-lt"/>
            </a:endParaRPr>
          </a:p>
        </p:txBody>
      </p:sp>
    </p:spTree>
    <p:extLst>
      <p:ext uri="{BB962C8B-B14F-4D97-AF65-F5344CB8AC3E}">
        <p14:creationId xmlns:p14="http://schemas.microsoft.com/office/powerpoint/2010/main" val="1796622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BDF0-B265-CBD9-E0BC-5CD49E6765EB}"/>
              </a:ext>
            </a:extLst>
          </p:cNvPr>
          <p:cNvSpPr>
            <a:spLocks noGrp="1"/>
          </p:cNvSpPr>
          <p:nvPr>
            <p:ph type="title"/>
          </p:nvPr>
        </p:nvSpPr>
        <p:spPr/>
        <p:txBody>
          <a:bodyPr>
            <a:normAutofit/>
          </a:bodyPr>
          <a:lstStyle/>
          <a:p>
            <a:pPr algn="ctr"/>
            <a:r>
              <a:rPr lang="en-US" sz="4000" dirty="0"/>
              <a:t>Release Trend Over Time (Dual Axis Line Chart)</a:t>
            </a:r>
            <a:endParaRPr lang="en-IN" sz="4000" dirty="0"/>
          </a:p>
        </p:txBody>
      </p:sp>
      <p:sp>
        <p:nvSpPr>
          <p:cNvPr id="3" name="Content Placeholder 2">
            <a:extLst>
              <a:ext uri="{FF2B5EF4-FFF2-40B4-BE49-F238E27FC236}">
                <a16:creationId xmlns:a16="http://schemas.microsoft.com/office/drawing/2014/main" id="{048CF348-6116-BAF9-FB5F-76BE57211F1C}"/>
              </a:ext>
            </a:extLst>
          </p:cNvPr>
          <p:cNvSpPr>
            <a:spLocks noGrp="1"/>
          </p:cNvSpPr>
          <p:nvPr>
            <p:ph idx="1"/>
          </p:nvPr>
        </p:nvSpPr>
        <p:spPr/>
        <p:txBody>
          <a:bodyPr>
            <a:normAutofit fontScale="40000" lnSpcReduction="20000"/>
          </a:bodyPr>
          <a:lstStyle/>
          <a:p>
            <a:r>
              <a:rPr lang="en-US" sz="2900" b="1" dirty="0"/>
              <a:t>Why this chart was used</a:t>
            </a:r>
          </a:p>
          <a:p>
            <a:r>
              <a:rPr lang="en-US" sz="2900" dirty="0"/>
              <a:t>The dual axis line chart was chosen to analyze how Amazon Prime Video content has evolved over time for both Movies and TV Shows simultaneously. A dual axis chart is effective here because it allows comparison of two related trends across the same timeline without creating multiple separate charts.</a:t>
            </a:r>
          </a:p>
          <a:p>
            <a:endParaRPr lang="en-US" sz="2900" b="1" dirty="0"/>
          </a:p>
          <a:p>
            <a:r>
              <a:rPr lang="en-US" sz="2900" b="1" dirty="0"/>
              <a:t>Insights Found from the Chart</a:t>
            </a:r>
          </a:p>
          <a:p>
            <a:r>
              <a:rPr lang="en-US" sz="2900" b="1" dirty="0"/>
              <a:t>1. Strong Growth After 2010</a:t>
            </a:r>
          </a:p>
          <a:p>
            <a:r>
              <a:rPr lang="en-US" sz="2900" dirty="0"/>
              <a:t>The chart shows a significant rise in content releases after 2010, especially between 2015–2020. This indicates Amazon Prime aggressively expanded its content library during the streaming boom period.</a:t>
            </a:r>
          </a:p>
          <a:p>
            <a:r>
              <a:rPr lang="en-US" sz="2900" b="1" dirty="0"/>
              <a:t>2. Movies Dominate the Platform</a:t>
            </a:r>
          </a:p>
          <a:p>
            <a:r>
              <a:rPr lang="en-US" sz="2900" dirty="0"/>
              <a:t>Movies consistently remain much higher in volume compared to TV Shows across almost every year. This suggests Amazon Prime focuses heavily on movie-based content acquisition and production.</a:t>
            </a:r>
          </a:p>
          <a:p>
            <a:r>
              <a:rPr lang="en-US" sz="2900" b="1" dirty="0"/>
              <a:t>3. TV Shows Started Growing Gradually</a:t>
            </a:r>
          </a:p>
          <a:p>
            <a:r>
              <a:rPr lang="en-US" sz="2900" dirty="0"/>
              <a:t>Although Shows are fewer than Movies, the chart reveals steady growth in TV Show releases over recent years. This reflects the increasing industry trend toward binge-worthy streaming series.</a:t>
            </a:r>
          </a:p>
          <a:p>
            <a:r>
              <a:rPr lang="en-US" sz="2900" b="1" dirty="0"/>
              <a:t>4. Peak Around Recent Years</a:t>
            </a:r>
          </a:p>
          <a:p>
            <a:r>
              <a:rPr lang="en-US" sz="2900" dirty="0"/>
              <a:t>The sharp rise near recent years indicates rapid platform scaling and higher investment in entertainment content before slowing slightly afterward.</a:t>
            </a:r>
          </a:p>
          <a:p>
            <a:endParaRPr lang="en-IN" sz="2900" dirty="0"/>
          </a:p>
          <a:p>
            <a:r>
              <a:rPr lang="en-US" sz="2900" b="1" dirty="0"/>
              <a:t>5. Content Strategy Shift</a:t>
            </a:r>
          </a:p>
          <a:p>
            <a:r>
              <a:rPr lang="en-US" sz="2900" dirty="0"/>
              <a:t>The growth trajectory suggests Amazon Prime transitioned from a smaller content platform into a large-scale global streaming ecosystem.</a:t>
            </a:r>
          </a:p>
          <a:p>
            <a:endParaRPr lang="en-IN" dirty="0"/>
          </a:p>
        </p:txBody>
      </p:sp>
    </p:spTree>
    <p:extLst>
      <p:ext uri="{BB962C8B-B14F-4D97-AF65-F5344CB8AC3E}">
        <p14:creationId xmlns:p14="http://schemas.microsoft.com/office/powerpoint/2010/main" val="2283841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9359A7-ABBE-D76E-3A17-FC796B625414}"/>
              </a:ext>
            </a:extLst>
          </p:cNvPr>
          <p:cNvSpPr txBox="1"/>
          <p:nvPr/>
        </p:nvSpPr>
        <p:spPr>
          <a:xfrm>
            <a:off x="206477" y="462116"/>
            <a:ext cx="8868697" cy="6340197"/>
          </a:xfrm>
          <a:prstGeom prst="rect">
            <a:avLst/>
          </a:prstGeom>
          <a:noFill/>
        </p:spPr>
        <p:txBody>
          <a:bodyPr wrap="square" rtlCol="0">
            <a:spAutoFit/>
          </a:bodyPr>
          <a:lstStyle/>
          <a:p>
            <a:r>
              <a:rPr lang="en-US" sz="1400" b="1" dirty="0"/>
              <a:t>Positive Business Impact</a:t>
            </a:r>
          </a:p>
          <a:p>
            <a:r>
              <a:rPr lang="en-US" sz="1400" b="1" dirty="0"/>
              <a:t>Better Content Investment Decisions</a:t>
            </a:r>
          </a:p>
          <a:p>
            <a:r>
              <a:rPr lang="en-US" sz="1400" dirty="0"/>
              <a:t>The chart helps stakeholders identify which type of content contributes more to platform growth. Since Movies dominate, Amazon can continue leveraging movie licensing while strategically increasing premium series production.</a:t>
            </a:r>
          </a:p>
          <a:p>
            <a:r>
              <a:rPr lang="en-US" sz="1400" b="1" dirty="0"/>
              <a:t>Trend Forecasting</a:t>
            </a:r>
          </a:p>
          <a:p>
            <a:r>
              <a:rPr lang="en-US" sz="1400" dirty="0"/>
              <a:t>The release trend helps predict future content demand patterns and supports planning for upcoming content budgets.</a:t>
            </a:r>
          </a:p>
          <a:p>
            <a:r>
              <a:rPr lang="en-US" sz="1400" b="1" dirty="0"/>
              <a:t>Audience Retention Strategy</a:t>
            </a:r>
          </a:p>
          <a:p>
            <a:r>
              <a:rPr lang="en-US" sz="1400" dirty="0"/>
              <a:t>The gradual increase in TV Shows suggests serialized content may improve subscriber retention because shows encourage longer platform engagement.</a:t>
            </a:r>
          </a:p>
          <a:p>
            <a:r>
              <a:rPr lang="en-US" sz="1400" b="1" dirty="0"/>
              <a:t>Competitive Benchmarking</a:t>
            </a:r>
          </a:p>
          <a:p>
            <a:r>
              <a:rPr lang="en-US" sz="1400" dirty="0"/>
              <a:t>The visualization helps compare Amazon Prime’s expansion timeline against competitors like Netflix or Disney+.</a:t>
            </a:r>
          </a:p>
          <a:p>
            <a:r>
              <a:rPr lang="en-US" sz="1400" b="1" dirty="0"/>
              <a:t>Content Portfolio Optimization</a:t>
            </a:r>
          </a:p>
          <a:p>
            <a:r>
              <a:rPr lang="en-US" sz="1400" dirty="0"/>
              <a:t>Understanding historical growth helps determine whether the platform has balanced diversification between Movies and Shows.</a:t>
            </a:r>
          </a:p>
          <a:p>
            <a:br>
              <a:rPr lang="en-US" sz="1400" dirty="0"/>
            </a:br>
            <a:endParaRPr lang="en-US" sz="1400" dirty="0"/>
          </a:p>
          <a:p>
            <a:r>
              <a:rPr lang="en-US" sz="1400" b="1" dirty="0"/>
              <a:t>Final Report / Conclusion from the Chart</a:t>
            </a:r>
          </a:p>
          <a:p>
            <a:r>
              <a:rPr lang="en-US" sz="1400" dirty="0"/>
              <a:t>The Release Trend Over Time dual axis chart reveals that Amazon Prime Video experienced substantial content growth over the past decade, with Movies contributing the majority of releases while TV Shows steadily gained momentum. The platform significantly accelerated expansion during the streaming era, particularly after 2015.</a:t>
            </a:r>
          </a:p>
          <a:p>
            <a:endParaRPr lang="en-US" sz="1400" dirty="0"/>
          </a:p>
          <a:p>
            <a:r>
              <a:rPr lang="en-US" sz="1400" dirty="0"/>
              <a:t>Overall, the chart demonstrates:</a:t>
            </a:r>
          </a:p>
          <a:p>
            <a:r>
              <a:rPr lang="en-US" sz="1400" dirty="0"/>
              <a:t>Rapid platform expansion </a:t>
            </a:r>
          </a:p>
          <a:p>
            <a:r>
              <a:rPr lang="en-US" sz="1400" dirty="0"/>
              <a:t>Strong movie dominance </a:t>
            </a:r>
          </a:p>
          <a:p>
            <a:r>
              <a:rPr lang="en-US" sz="1400" dirty="0"/>
              <a:t>Increasing investment in streaming series </a:t>
            </a:r>
          </a:p>
          <a:p>
            <a:r>
              <a:rPr lang="en-US" sz="1400" dirty="0"/>
              <a:t>Evolving content strategy aligned with modern entertainment trends </a:t>
            </a:r>
          </a:p>
          <a:p>
            <a:r>
              <a:rPr lang="en-US" sz="1400" dirty="0"/>
              <a:t>This visualization provides valuable strategic insight for content planning, audience engagement, and long-term streaming business growth.</a:t>
            </a:r>
          </a:p>
          <a:p>
            <a:endParaRPr lang="en-US" sz="1400" dirty="0"/>
          </a:p>
        </p:txBody>
      </p:sp>
    </p:spTree>
    <p:extLst>
      <p:ext uri="{BB962C8B-B14F-4D97-AF65-F5344CB8AC3E}">
        <p14:creationId xmlns:p14="http://schemas.microsoft.com/office/powerpoint/2010/main" val="218916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27507B-41AF-43A6-0D3A-255D15220E44}"/>
              </a:ext>
            </a:extLst>
          </p:cNvPr>
          <p:cNvPicPr>
            <a:picLocks noChangeAspect="1"/>
          </p:cNvPicPr>
          <p:nvPr/>
        </p:nvPicPr>
        <p:blipFill>
          <a:blip r:embed="rId2"/>
          <a:stretch>
            <a:fillRect/>
          </a:stretch>
        </p:blipFill>
        <p:spPr>
          <a:xfrm>
            <a:off x="464614" y="1621268"/>
            <a:ext cx="8214772" cy="4817806"/>
          </a:xfrm>
          <a:prstGeom prst="rect">
            <a:avLst/>
          </a:prstGeom>
        </p:spPr>
      </p:pic>
      <p:sp>
        <p:nvSpPr>
          <p:cNvPr id="4" name="TextBox 3">
            <a:extLst>
              <a:ext uri="{FF2B5EF4-FFF2-40B4-BE49-F238E27FC236}">
                <a16:creationId xmlns:a16="http://schemas.microsoft.com/office/drawing/2014/main" id="{132B40AB-C4E5-23E2-1B2F-FF5E56DE7444}"/>
              </a:ext>
            </a:extLst>
          </p:cNvPr>
          <p:cNvSpPr txBox="1"/>
          <p:nvPr/>
        </p:nvSpPr>
        <p:spPr>
          <a:xfrm>
            <a:off x="609599" y="173119"/>
            <a:ext cx="7521677" cy="1323439"/>
          </a:xfrm>
          <a:prstGeom prst="rect">
            <a:avLst/>
          </a:prstGeom>
          <a:noFill/>
        </p:spPr>
        <p:txBody>
          <a:bodyPr wrap="square" rtlCol="0">
            <a:spAutoFit/>
          </a:bodyPr>
          <a:lstStyle/>
          <a:p>
            <a:pPr algn="ctr"/>
            <a:r>
              <a:rPr lang="en-US" sz="4000" dirty="0">
                <a:latin typeface="+mj-lt"/>
              </a:rPr>
              <a:t>Runtime vs IMDb Score by Type of Content</a:t>
            </a:r>
            <a:endParaRPr lang="en-IN" sz="4000" dirty="0">
              <a:latin typeface="+mj-lt"/>
            </a:endParaRPr>
          </a:p>
        </p:txBody>
      </p:sp>
    </p:spTree>
    <p:extLst>
      <p:ext uri="{BB962C8B-B14F-4D97-AF65-F5344CB8AC3E}">
        <p14:creationId xmlns:p14="http://schemas.microsoft.com/office/powerpoint/2010/main" val="181446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31FED-46C4-A7A7-2D30-3241E309909E}"/>
              </a:ext>
            </a:extLst>
          </p:cNvPr>
          <p:cNvSpPr>
            <a:spLocks noGrp="1"/>
          </p:cNvSpPr>
          <p:nvPr>
            <p:ph type="title"/>
          </p:nvPr>
        </p:nvSpPr>
        <p:spPr/>
        <p:txBody>
          <a:bodyPr>
            <a:normAutofit/>
          </a:bodyPr>
          <a:lstStyle/>
          <a:p>
            <a:pPr algn="ctr"/>
            <a:r>
              <a:rPr lang="en-US" sz="4000" dirty="0"/>
              <a:t>Runtime vs IMDb Score by Type of Content (Bar Chart)</a:t>
            </a:r>
            <a:endParaRPr lang="en-IN" sz="4000" dirty="0"/>
          </a:p>
        </p:txBody>
      </p:sp>
      <p:sp>
        <p:nvSpPr>
          <p:cNvPr id="3" name="Content Placeholder 2">
            <a:extLst>
              <a:ext uri="{FF2B5EF4-FFF2-40B4-BE49-F238E27FC236}">
                <a16:creationId xmlns:a16="http://schemas.microsoft.com/office/drawing/2014/main" id="{4ED07440-7353-99CB-95A8-D9ACF3153E3F}"/>
              </a:ext>
            </a:extLst>
          </p:cNvPr>
          <p:cNvSpPr>
            <a:spLocks noGrp="1"/>
          </p:cNvSpPr>
          <p:nvPr>
            <p:ph idx="1"/>
          </p:nvPr>
        </p:nvSpPr>
        <p:spPr>
          <a:xfrm>
            <a:off x="457200" y="1600200"/>
            <a:ext cx="8229600" cy="5066071"/>
          </a:xfrm>
        </p:spPr>
        <p:txBody>
          <a:bodyPr>
            <a:normAutofit lnSpcReduction="10000"/>
          </a:bodyPr>
          <a:lstStyle/>
          <a:p>
            <a:r>
              <a:rPr lang="en-US" sz="1500" b="1" dirty="0"/>
              <a:t>Why this chart was used</a:t>
            </a:r>
          </a:p>
          <a:p>
            <a:r>
              <a:rPr lang="en-US" sz="1500" dirty="0"/>
              <a:t>A horizontal grouped bar chart was selected to compare IMDb ratings across different runtime categories for both movies and TV shows. This chart effectively highlights performance differences between content durations and content types.</a:t>
            </a:r>
          </a:p>
          <a:p>
            <a:r>
              <a:rPr lang="en-US" sz="1500" b="1" dirty="0"/>
              <a:t>Insights from the chart</a:t>
            </a:r>
          </a:p>
          <a:p>
            <a:r>
              <a:rPr lang="en-US" sz="1500" dirty="0"/>
              <a:t>Long-format shows received some of the highest IMDb scores. </a:t>
            </a:r>
          </a:p>
          <a:p>
            <a:r>
              <a:rPr lang="en-US" sz="1500" dirty="0"/>
              <a:t>Medium and short runtime content also performed consistently well. </a:t>
            </a:r>
          </a:p>
          <a:p>
            <a:r>
              <a:rPr lang="en-US" sz="1500" dirty="0"/>
              <a:t>Very long movies generally had lower ratings compared to long-format shows. </a:t>
            </a:r>
          </a:p>
          <a:p>
            <a:r>
              <a:rPr lang="en-US" sz="1500" dirty="0"/>
              <a:t>TV shows tend to maintain stronger audience engagement across longer runtimes than movies. </a:t>
            </a:r>
          </a:p>
          <a:p>
            <a:r>
              <a:rPr lang="en-US" sz="1500" b="1" dirty="0"/>
              <a:t>Business impact</a:t>
            </a:r>
          </a:p>
          <a:p>
            <a:r>
              <a:rPr lang="en-US" sz="1500" dirty="0"/>
              <a:t>Streaming platforms can prioritize producing high-quality long-form series since viewers appear to engage positively with them. </a:t>
            </a:r>
          </a:p>
          <a:p>
            <a:r>
              <a:rPr lang="en-US" sz="1500" dirty="0"/>
              <a:t>Runtime optimization helps content creators understand audience preferences. </a:t>
            </a:r>
          </a:p>
          <a:p>
            <a:r>
              <a:rPr lang="en-US" sz="1500" dirty="0"/>
              <a:t>Insights from runtime behavior can improve content acquisition and production strategies.</a:t>
            </a:r>
          </a:p>
          <a:p>
            <a:r>
              <a:rPr lang="en-US" sz="1500" dirty="0"/>
              <a:t>The “Runtime vs IMDb Score” visualization demonstrates a clear relationship between content duration and audience ratings. Long-format TV shows generally outperform movies in viewer satisfaction, suggesting that episodic storytelling creates stronger engagement over time. The analysis supports strategic investment in high-quality series content while emphasizing the importance of balancing runtime with viewer retention and entertainment value.</a:t>
            </a:r>
          </a:p>
          <a:p>
            <a:endParaRPr lang="en-IN" dirty="0"/>
          </a:p>
        </p:txBody>
      </p:sp>
    </p:spTree>
    <p:extLst>
      <p:ext uri="{BB962C8B-B14F-4D97-AF65-F5344CB8AC3E}">
        <p14:creationId xmlns:p14="http://schemas.microsoft.com/office/powerpoint/2010/main" val="2785472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Business Insights</a:t>
            </a:r>
          </a:p>
        </p:txBody>
      </p:sp>
      <p:sp>
        <p:nvSpPr>
          <p:cNvPr id="3" name="TextBox 2"/>
          <p:cNvSpPr txBox="1"/>
          <p:nvPr/>
        </p:nvSpPr>
        <p:spPr>
          <a:xfrm>
            <a:off x="1053035" y="1237882"/>
            <a:ext cx="7772400" cy="3657600"/>
          </a:xfrm>
          <a:prstGeom prst="rect">
            <a:avLst/>
          </a:prstGeom>
          <a:noFill/>
        </p:spPr>
        <p:txBody>
          <a:bodyPr wrap="none">
            <a:spAutoFit/>
          </a:bodyPr>
          <a:lstStyle/>
          <a:p>
            <a:endParaRPr dirty="0"/>
          </a:p>
          <a:p>
            <a:r>
              <a:rPr dirty="0"/>
              <a:t>• Movies dominate the platform more than TV Shows</a:t>
            </a:r>
          </a:p>
          <a:p>
            <a:r>
              <a:rPr dirty="0"/>
              <a:t>• Good-rated content receives stronger audience engagement</a:t>
            </a:r>
          </a:p>
          <a:p>
            <a:r>
              <a:rPr dirty="0"/>
              <a:t>• Global expansion opportunities exist in underrepresented regions</a:t>
            </a:r>
          </a:p>
          <a:p>
            <a:r>
              <a:rPr dirty="0"/>
              <a:t>• High-rated long-form content performs consistently well</a:t>
            </a:r>
          </a:p>
          <a:p>
            <a:r>
              <a:rPr dirty="0"/>
              <a:t>• Recent content growth suggests increased investment in fresh releases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AAA95B-5A5F-E395-4B3B-B1E77023ECF1}"/>
              </a:ext>
            </a:extLst>
          </p:cNvPr>
          <p:cNvPicPr>
            <a:picLocks noChangeAspect="1"/>
          </p:cNvPicPr>
          <p:nvPr/>
        </p:nvPicPr>
        <p:blipFill>
          <a:blip r:embed="rId2"/>
          <a:stretch>
            <a:fillRect/>
          </a:stretch>
        </p:blipFill>
        <p:spPr>
          <a:xfrm>
            <a:off x="212399" y="1298990"/>
            <a:ext cx="8719202" cy="3912108"/>
          </a:xfrm>
          <a:prstGeom prst="rect">
            <a:avLst/>
          </a:prstGeom>
        </p:spPr>
      </p:pic>
      <p:sp>
        <p:nvSpPr>
          <p:cNvPr id="5" name="TextBox 4">
            <a:extLst>
              <a:ext uri="{FF2B5EF4-FFF2-40B4-BE49-F238E27FC236}">
                <a16:creationId xmlns:a16="http://schemas.microsoft.com/office/drawing/2014/main" id="{35D3E3BC-7BA6-FA19-85A3-070EA67CDEF3}"/>
              </a:ext>
            </a:extLst>
          </p:cNvPr>
          <p:cNvSpPr txBox="1"/>
          <p:nvPr/>
        </p:nvSpPr>
        <p:spPr>
          <a:xfrm>
            <a:off x="2005780" y="265471"/>
            <a:ext cx="5201265" cy="769441"/>
          </a:xfrm>
          <a:prstGeom prst="rect">
            <a:avLst/>
          </a:prstGeom>
          <a:noFill/>
        </p:spPr>
        <p:txBody>
          <a:bodyPr wrap="square" rtlCol="0">
            <a:spAutoFit/>
          </a:bodyPr>
          <a:lstStyle/>
          <a:p>
            <a:pPr algn="ctr"/>
            <a:r>
              <a:rPr lang="en-IN" sz="4400" dirty="0">
                <a:latin typeface="+mj-lt"/>
              </a:rPr>
              <a:t>Dashboard</a:t>
            </a:r>
          </a:p>
        </p:txBody>
      </p:sp>
    </p:spTree>
    <p:extLst>
      <p:ext uri="{BB962C8B-B14F-4D97-AF65-F5344CB8AC3E}">
        <p14:creationId xmlns:p14="http://schemas.microsoft.com/office/powerpoint/2010/main" val="2017142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t>Conclusion</a:t>
            </a:r>
          </a:p>
        </p:txBody>
      </p:sp>
      <p:sp>
        <p:nvSpPr>
          <p:cNvPr id="4" name="TextBox 3">
            <a:extLst>
              <a:ext uri="{FF2B5EF4-FFF2-40B4-BE49-F238E27FC236}">
                <a16:creationId xmlns:a16="http://schemas.microsoft.com/office/drawing/2014/main" id="{3C7C9F13-1854-75BE-2ABA-CEAA51EB2B72}"/>
              </a:ext>
            </a:extLst>
          </p:cNvPr>
          <p:cNvSpPr txBox="1"/>
          <p:nvPr/>
        </p:nvSpPr>
        <p:spPr>
          <a:xfrm>
            <a:off x="457201" y="1524000"/>
            <a:ext cx="8387510" cy="3323987"/>
          </a:xfrm>
          <a:prstGeom prst="rect">
            <a:avLst/>
          </a:prstGeom>
          <a:noFill/>
        </p:spPr>
        <p:txBody>
          <a:bodyPr wrap="square" rtlCol="0">
            <a:spAutoFit/>
          </a:bodyPr>
          <a:lstStyle/>
          <a:p>
            <a:r>
              <a:rPr lang="en-US" sz="1600" dirty="0"/>
              <a:t>This EDA project on Amazon Prime Movies and TV Shows successfully uncovered key insights about content distribution, audience preferences, genre trends, regional presence, and release patterns using Python and Tableau.</a:t>
            </a:r>
          </a:p>
          <a:p>
            <a:r>
              <a:rPr lang="en-US" sz="1600" dirty="0"/>
              <a:t>The analysis showed that Movies dominate the platform, while TV Shows have grown significantly in recent years. Genres related to Entertainment, Family, and Drama were the most common, and highly rated content generally had longer runtimes and stronger audience engagement.</a:t>
            </a:r>
          </a:p>
          <a:p>
            <a:r>
              <a:rPr lang="en-US" sz="1600" dirty="0"/>
              <a:t>Interactive dashboards and visualizations such as trend analysis, KPI cards, maps, scatter plots, and dual-axis charts helped transform raw data into meaningful business insights. These findings can support content strategy, audience targeting, and data-driven decision-making for streaming platforms.</a:t>
            </a:r>
          </a:p>
          <a:p>
            <a:r>
              <a:rPr lang="en-US" sz="1600" dirty="0"/>
              <a:t>Overall, the project demonstrates practical skills in data cleaning, feature engineering, exploratory data analysis, visualization, and business storytelling.</a:t>
            </a:r>
          </a:p>
          <a:p>
            <a:endParaRPr lang="en-IN" dirty="0"/>
          </a:p>
        </p:txBody>
      </p:sp>
    </p:spTree>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TotalTime>
  <Words>1698</Words>
  <Application>Microsoft Office PowerPoint</Application>
  <PresentationFormat>On-screen Show (4:3)</PresentationFormat>
  <Paragraphs>171</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Amazon Prime TV Shows &amp; Movies Analysis</vt:lpstr>
      <vt:lpstr>Project Overview</vt:lpstr>
      <vt:lpstr>Objectives</vt:lpstr>
      <vt:lpstr>Tools &amp; Technologies</vt:lpstr>
      <vt:lpstr>Data Cleaning &amp; Feature Engineering</vt:lpstr>
      <vt:lpstr>Correlation Heatmap</vt:lpstr>
      <vt:lpstr>Correlation Heatmap of Numeric Variables</vt:lpstr>
      <vt:lpstr>Rating Category by Genre</vt:lpstr>
      <vt:lpstr>Rating Category by Genre (Pie Chart)</vt:lpstr>
      <vt:lpstr>Movies and Shows by Country</vt:lpstr>
      <vt:lpstr>Movies and Shows by Country (Map Visualization)</vt:lpstr>
      <vt:lpstr>Recent vs Old Content</vt:lpstr>
      <vt:lpstr>Recent vs Old Content (Bar Chart)</vt:lpstr>
      <vt:lpstr>PowerPoint Presentation</vt:lpstr>
      <vt:lpstr>Release Trend Over Time (Dual Axis Line Chart)</vt:lpstr>
      <vt:lpstr>PowerPoint Presentation</vt:lpstr>
      <vt:lpstr>PowerPoint Presentation</vt:lpstr>
      <vt:lpstr>Runtime vs IMDb Score by Type of Content (Bar Chart)</vt:lpstr>
      <vt:lpstr>Business Insights</vt:lpstr>
      <vt:lpstr>PowerPoint Presentation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Rudraneel Dutta</cp:lastModifiedBy>
  <cp:revision>3</cp:revision>
  <dcterms:created xsi:type="dcterms:W3CDTF">2013-01-27T09:14:16Z</dcterms:created>
  <dcterms:modified xsi:type="dcterms:W3CDTF">2026-05-30T15:48:58Z</dcterms:modified>
  <cp:category/>
</cp:coreProperties>
</file>